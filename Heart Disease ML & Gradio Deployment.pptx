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811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871" y="2172741"/>
            <a:ext cx="2812256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2677566"/>
            <a:ext cx="9001125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0F172A"/>
                </a:solidFill>
                <a:latin typeface="Plus Jakarta Sans"/>
              </a:rPr>
              <a:t>Heart Disease Prediction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95500" y="4056608"/>
            <a:ext cx="8001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Inter"/>
              </a:rPr>
              <a:t>An end-to-end clinical machine learning pipeline analyzing 50,000 patient records, comparing 3 classifiers, and deploying a Gradio interactive interface.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1603" y="3000375"/>
            <a:ext cx="7908644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lus Jakarta Sans"/>
              </a:rPr>
              <a:t>Dataset Overview &amp; EDA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7000" y="3781425"/>
            <a:ext cx="6858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Inter"/>
              </a:rPr>
              <a:t>Exploring 50,000 synthetic clinical records to uncover key cardiovascular risk indicators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96008"/>
            <a:ext cx="5295900" cy="242024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96008"/>
            <a:ext cx="5295900" cy="24202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6350" y="2948433"/>
            <a:ext cx="4490561" cy="272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0D9488"/>
                </a:solidFill>
                <a:latin typeface="Plus Jakarta Sans"/>
              </a:rPr>
              <a:t>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335089"/>
            <a:ext cx="45910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Cohort Size: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50,000 patient instances across 20 clinical &amp; lifestyle predictor variables.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935164"/>
            <a:ext cx="45910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Feature Mix: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14 numerical measures (Age, BP, Cholesterol, BMI) and 6 categorical parameters (Smoking, Activity, Diet, Stress).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400" y="2948433"/>
            <a:ext cx="4430553" cy="272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0D9488"/>
                </a:solidFill>
                <a:latin typeface="Plus Jakarta Sans"/>
              </a:rPr>
              <a:t>Data Hygiene &amp;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335089"/>
            <a:ext cx="45910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Missing Value Handling: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Imputed 20,109 missing records in </a:t>
            </a:r>
            <a:r>
              <a:rPr sz="1275" b="0" i="1" u="none">
                <a:solidFill>
                  <a:srgbClr val="475569"/>
                </a:solidFill>
                <a:latin typeface="Inter"/>
              </a:rPr>
              <a:t>Alcohol_Intake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as 'None'.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935164"/>
            <a:ext cx="45910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Transformers: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Applied </a:t>
            </a:r>
            <a:r>
              <a:rPr sz="1275" b="0" i="1" u="none">
                <a:solidFill>
                  <a:srgbClr val="475569"/>
                </a:solidFill>
                <a:latin typeface="Inter"/>
              </a:rPr>
              <a:t>StandardScaler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to numerical variables and </a:t>
            </a:r>
            <a:r>
              <a:rPr sz="1275" b="0" i="1" u="none">
                <a:solidFill>
                  <a:srgbClr val="475569"/>
                </a:solidFill>
                <a:latin typeface="Inter"/>
              </a:rPr>
              <a:t>OneHotEncoder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to categorical features.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970311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2970311"/>
            <a:ext cx="257175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2144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Dataset Profile &amp; Preprocessing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20280"/>
            <a:ext cx="5295900" cy="2171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0125" y="3110805"/>
            <a:ext cx="45148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0" i="0" u="none">
                <a:solidFill>
                  <a:srgbClr val="0D9488"/>
                </a:solidFill>
                <a:latin typeface="Plus Jakarta Sans ExtraBold"/>
              </a:rPr>
              <a:t>0.40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4272855"/>
            <a:ext cx="45148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66534"/>
                </a:solidFill>
                <a:latin typeface="Inter"/>
              </a:rPr>
              <a:t>Highest Pearson Correlation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948433"/>
            <a:ext cx="5560695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1E293B"/>
                </a:solidFill>
                <a:latin typeface="Plus Jakarta Sans"/>
              </a:rPr>
              <a:t>Hypertension &amp; Age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335089"/>
            <a:ext cx="52959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Hypertension exhibits the strongest linear correlation (+0.404) with Heart Disease risk, closely followed by Patient Age (+0.380) and Total Cholesterol (+0.374).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178051"/>
            <a:ext cx="52959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Diabetes (+0.338) and Previous Heart Attack (+0.243) complete the top tier of medical diagnostic indicators.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33400"/>
            <a:ext cx="1152144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Primary Clinical Drivers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87660"/>
            <a:ext cx="10972800" cy="50369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23987" y="5142011"/>
            <a:ext cx="93440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1" u="none">
                <a:solidFill>
                  <a:srgbClr val="475569"/>
                </a:solidFill>
                <a:latin typeface="Inter"/>
              </a:rPr>
              <a:t>Gini importance computed from Random Forest shows that top 5 features account for over 92% of total predictive power.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2144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Feature Importance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33400"/>
            <a:ext cx="5510688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Machine Learning Architecture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287660"/>
            <a:ext cx="5510688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1E293B"/>
                </a:solidFill>
                <a:latin typeface="Plus Jakarta Sans"/>
              </a:rPr>
              <a:t>End-to-End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74316"/>
            <a:ext cx="52482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The system builds a seamless modular pipeline integrating raw patient data preprocessing, model selection, and real-time inference through Gradio.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603599"/>
            <a:ext cx="52482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By leveraging standardized feature transformers and robust classification algorithms, the model delivers instantaneous risk assessment for clinical decision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5875" y="3143250"/>
            <a:ext cx="7060101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lus Jakarta Sans"/>
              </a:rPr>
              <a:t>Model Training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6075" y="3924300"/>
            <a:ext cx="64198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Inter"/>
              </a:rPr>
              <a:t>Evaluating three distinct machine learning models on unseen test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091880"/>
            <a:ext cx="2523678" cy="10151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874" y="2505223"/>
            <a:ext cx="2523678" cy="101515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149" y="4091880"/>
            <a:ext cx="2523678" cy="101515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8423" y="2505223"/>
            <a:ext cx="2523678" cy="10151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3787080"/>
            <a:ext cx="109728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6526" y="4272855"/>
            <a:ext cx="2349824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754"/>
              </a:lnSpc>
            </a:pPr>
            <a:r>
              <a:rPr sz="1350" b="1" i="0" u="none">
                <a:solidFill>
                  <a:srgbClr val="0D9488"/>
                </a:solidFill>
                <a:latin typeface="Plus Jakarta Sans"/>
              </a:rPr>
              <a:t>1. Data Prep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552801"/>
            <a:ext cx="2237928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Cleaning 50k rows &amp; imputing missing alcohol intake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2801" y="2686198"/>
            <a:ext cx="2349824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754"/>
              </a:lnSpc>
            </a:pPr>
            <a:r>
              <a:rPr sz="1350" b="1" i="0" u="none">
                <a:solidFill>
                  <a:srgbClr val="0D9488"/>
                </a:solidFill>
                <a:latin typeface="Plus Jakarta Sans"/>
              </a:rPr>
              <a:t>2.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8749" y="2966144"/>
            <a:ext cx="2237928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ColumnTransformer with StandardScaler &amp; OneHotEncoder.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9076" y="4272855"/>
            <a:ext cx="2349824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754"/>
              </a:lnSpc>
            </a:pPr>
            <a:r>
              <a:rPr sz="1350" b="1" i="0" u="none">
                <a:solidFill>
                  <a:srgbClr val="0D9488"/>
                </a:solidFill>
                <a:latin typeface="Plus Jakarta Sans"/>
              </a:rPr>
              <a:t>3. Model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5024" y="4552801"/>
            <a:ext cx="2237928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80/20 stratified split &amp; cross-metric model scoring.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5350" y="2686198"/>
            <a:ext cx="2349824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754"/>
              </a:lnSpc>
            </a:pPr>
            <a:r>
              <a:rPr sz="1350" b="1" i="0" u="none">
                <a:solidFill>
                  <a:srgbClr val="0D9488"/>
                </a:solidFill>
                <a:latin typeface="Plus Jakarta Sans"/>
              </a:rPr>
              <a:t>4. UI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1298" y="2966144"/>
            <a:ext cx="2237928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Gradio web app for real-time risk predictions.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33400"/>
            <a:ext cx="1152144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4-Stage ML Workflow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66664" y="370135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82938" y="370135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99213" y="370135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15488" y="370135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01242"/>
            <a:ext cx="10972800" cy="200977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9125" y="2810767"/>
          <a:ext cx="10953746" cy="1990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5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9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0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75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Model Algorithm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Recall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F1-Score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ROC-AUC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92.38%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91.78%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91.78%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0.9178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0.9822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Baseline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Random Forest Classifier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100.0%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100.0%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100.0%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1.0000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1.0000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Selected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68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HistGradientBoosting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100.0%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100.0%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100.0%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1.0000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1.0000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Top Performer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19125" y="3310830"/>
            <a:ext cx="25903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9478" y="3310830"/>
            <a:ext cx="13622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1702" y="3310830"/>
            <a:ext cx="13287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00439" y="3310830"/>
            <a:ext cx="11165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16948" y="3310830"/>
            <a:ext cx="13398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56848" y="3310830"/>
            <a:ext cx="14403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97206" y="3310830"/>
            <a:ext cx="17756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125" y="3806130"/>
            <a:ext cx="25903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9478" y="3806130"/>
            <a:ext cx="13622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1702" y="3806130"/>
            <a:ext cx="13287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00439" y="3806130"/>
            <a:ext cx="11165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16948" y="3806130"/>
            <a:ext cx="13398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56848" y="3806130"/>
            <a:ext cx="14403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797206" y="3806130"/>
            <a:ext cx="17756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125" y="4301430"/>
            <a:ext cx="25903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9478" y="4301430"/>
            <a:ext cx="13622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1702" y="4301430"/>
            <a:ext cx="13287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00439" y="4301430"/>
            <a:ext cx="11165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16948" y="4301430"/>
            <a:ext cx="13398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56848" y="4301430"/>
            <a:ext cx="14403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797206" y="4301430"/>
            <a:ext cx="17756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999" y="3953767"/>
            <a:ext cx="742950" cy="228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0336" y="4449067"/>
            <a:ext cx="1057275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9600" y="533400"/>
            <a:ext cx="1152144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Model Comparison Scorecard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69802"/>
            <a:ext cx="3479750" cy="26726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050" y="2469802"/>
            <a:ext cx="3479750" cy="26726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469802"/>
            <a:ext cx="3479750" cy="267265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2784127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5825" y="3469927"/>
            <a:ext cx="2060257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1E293B"/>
                </a:solidFill>
                <a:latin typeface="Plus Jakarta Sans"/>
              </a:rP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56583"/>
            <a:ext cx="29273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Achieved a high baseline accuracy of 92.38% and ROC-AUC of 0.9822, confirming strong linear separability in core health metrics.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2275" y="2784127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32275" y="3469927"/>
            <a:ext cx="1620202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1E293B"/>
                </a:solidFill>
                <a:latin typeface="Plus Jakarta Sans"/>
              </a:rP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275" y="3856583"/>
            <a:ext cx="29273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Achieved 100% test set accuracy and F1 score, perfectly capturing non-linear feature interactions across patient parameters.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8725" y="2784127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78725" y="3469927"/>
            <a:ext cx="2330291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1E293B"/>
                </a:solidFill>
                <a:latin typeface="Plus Jakarta Sans"/>
              </a:rPr>
              <a:t>HistGradientBoosting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8725" y="3856583"/>
            <a:ext cx="29273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Demonstrated equal 100% precision and recall with exceptional training efficiency on 50,000 patient records.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75" y="2917477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9912" y="2917477"/>
            <a:ext cx="2000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6363" y="2917477"/>
            <a:ext cx="20002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533400"/>
            <a:ext cx="1152144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 dirty="0">
                <a:solidFill>
                  <a:srgbClr val="0F172A"/>
                </a:solidFill>
                <a:latin typeface="Plus Jakarta Sans"/>
              </a:rPr>
              <a:t>Model Evaluation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56088"/>
            <a:ext cx="5295900" cy="21773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498" y="4506922"/>
            <a:ext cx="5295900" cy="21773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4925" y="4915777"/>
            <a:ext cx="4460557" cy="2578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0D9488"/>
                </a:solidFill>
                <a:latin typeface="Plus Jakarta Sans"/>
              </a:rPr>
              <a:t>User Input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5295169"/>
            <a:ext cx="45910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Clinical Inputs: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Numeric sliders/fields for Age, BP, Heart Rate, Cholesterol, Blood Sugar, and BMI.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5895244"/>
            <a:ext cx="45910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Lifestyle Radio Buttons: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Dropdowns &amp; radios for Smoking, Alcohol, Diet, Activity, and Medical History flags.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398" y="4859347"/>
            <a:ext cx="4430553" cy="272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0D9488"/>
                </a:solidFill>
                <a:latin typeface="Plus Jakarta Sans"/>
              </a:rPr>
              <a:t>Real-time Inference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3" y="5246003"/>
            <a:ext cx="45910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Automated Pipeline: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Automatically formats patient inputs into a single DataFrame and executes scaled encoding.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3" y="5846078"/>
            <a:ext cx="45910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Output: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Returns risk classification (High Risk / Low Risk) alongside exact probability percentage.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4930391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3" y="4881225"/>
            <a:ext cx="257175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2144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Gradio Interactive Deployment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9921E56-7D6F-A1C8-5EC6-786E2B8EFC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59060"/>
            <a:ext cx="11155680" cy="3360850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260E1C6A-29C3-CD74-2E46-281815EE2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4" y="3044875"/>
            <a:ext cx="2452688" cy="13626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C88C2D-9F82-20A6-1BEF-F13D33C10DFD}"/>
              </a:ext>
            </a:extLst>
          </p:cNvPr>
          <p:cNvSpPr txBox="1"/>
          <p:nvPr/>
        </p:nvSpPr>
        <p:spPr>
          <a:xfrm>
            <a:off x="476250" y="484830"/>
            <a:ext cx="11715750" cy="39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550" b="1" i="0" u="none" dirty="0">
                <a:solidFill>
                  <a:srgbClr val="0F172A"/>
                </a:solidFill>
                <a:latin typeface="Plus Jakarta Sans"/>
              </a:rPr>
              <a:t>References</a:t>
            </a:r>
            <a:endParaRPr sz="2550" b="1" i="0" u="none" dirty="0">
              <a:solidFill>
                <a:srgbClr val="0F172A"/>
              </a:solidFill>
              <a:latin typeface="Plus Jakarta Sans"/>
            </a:endParaRPr>
          </a:p>
        </p:txBody>
      </p:sp>
      <p:pic>
        <p:nvPicPr>
          <p:cNvPr id="15" name="Picture 14" descr="10 Tips to Get Started with Kaggle | by ODSC - Open Data Science | Medium">
            <a:extLst>
              <a:ext uri="{FF2B5EF4-FFF2-40B4-BE49-F238E27FC236}">
                <a16:creationId xmlns:a16="http://schemas.microsoft.com/office/drawing/2014/main" id="{D6E9FB53-0CB2-8FEB-3258-E5507DD8A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508" y="1705025"/>
            <a:ext cx="2403554" cy="112666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5E08AEA-9BC8-9960-CFE0-1E0E3AD014C5}"/>
              </a:ext>
            </a:extLst>
          </p:cNvPr>
          <p:cNvSpPr txBox="1"/>
          <p:nvPr/>
        </p:nvSpPr>
        <p:spPr>
          <a:xfrm>
            <a:off x="3786187" y="2124670"/>
            <a:ext cx="5715000" cy="198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lang="en-US" sz="1600" i="0" u="none" dirty="0">
                <a:latin typeface="Inter"/>
              </a:rPr>
              <a:t>Kaggle</a:t>
            </a:r>
            <a:endParaRPr sz="1600" i="0" u="none" dirty="0"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0066FA-15F2-6CAF-E2DC-D532F87DFAE1}"/>
              </a:ext>
            </a:extLst>
          </p:cNvPr>
          <p:cNvSpPr txBox="1"/>
          <p:nvPr/>
        </p:nvSpPr>
        <p:spPr>
          <a:xfrm>
            <a:off x="3786187" y="2364134"/>
            <a:ext cx="5715000" cy="223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6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Source:</a:t>
            </a:r>
            <a:r>
              <a:rPr lang="en-US" sz="1200" dirty="0">
                <a:solidFill>
                  <a:srgbClr val="475569"/>
                </a:solidFill>
                <a:latin typeface="Inter"/>
              </a:rPr>
              <a:t> https://www.kaggle.com/datasets/anshika2301/hr-analytics-dataset</a:t>
            </a:r>
            <a:endParaRPr sz="1200" b="0" i="0" u="none" dirty="0">
              <a:solidFill>
                <a:srgbClr val="4F46E5"/>
              </a:solidFill>
              <a:latin typeface="Inter"/>
            </a:endParaRPr>
          </a:p>
        </p:txBody>
      </p:sp>
      <p:pic>
        <p:nvPicPr>
          <p:cNvPr id="26" name="Picture 25" descr="The Python Logo | Python Software Foundation">
            <a:extLst>
              <a:ext uri="{FF2B5EF4-FFF2-40B4-BE49-F238E27FC236}">
                <a16:creationId xmlns:a16="http://schemas.microsoft.com/office/drawing/2014/main" id="{12309641-8677-318D-D0B1-4BD32ADB57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972" y="4819031"/>
            <a:ext cx="3810846" cy="128719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2C2BB91-23DC-0582-AE78-E657E0115F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8635" y="4639224"/>
            <a:ext cx="3907556" cy="1362605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185C9168-7207-79EC-F5F9-AC538712D8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147" y="3005118"/>
            <a:ext cx="2640117" cy="146673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9E20E3B-7449-F345-9CA3-6CBE10ADDBC7}"/>
              </a:ext>
            </a:extLst>
          </p:cNvPr>
          <p:cNvSpPr txBox="1"/>
          <p:nvPr/>
        </p:nvSpPr>
        <p:spPr>
          <a:xfrm>
            <a:off x="3801393" y="3575149"/>
            <a:ext cx="45243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https://miro.medium.com/v2/resize:fit:1400/1*IJOPkK0HjV9pvJ-vopN8iQ.png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567666-E7F0-14A9-2B91-8BDC125A4C9A}"/>
              </a:ext>
            </a:extLst>
          </p:cNvPr>
          <p:cNvSpPr txBox="1"/>
          <p:nvPr/>
        </p:nvSpPr>
        <p:spPr>
          <a:xfrm>
            <a:off x="3801392" y="3815655"/>
            <a:ext cx="45243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medium.com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297</TotalTime>
  <Words>556</Words>
  <Application>Microsoft Office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Inter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Arshak Ebrahim</cp:lastModifiedBy>
  <cp:revision>4</cp:revision>
  <dcterms:created xsi:type="dcterms:W3CDTF">2013-01-27T09:14:16Z</dcterms:created>
  <dcterms:modified xsi:type="dcterms:W3CDTF">2026-08-24T14:08:45Z</dcterms:modified>
  <cp:category/>
</cp:coreProperties>
</file>